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6.png"/><Relationship Id="rId7" Type="http://schemas.openxmlformats.org/officeDocument/2006/relationships/image" Target="../media/image-9-6.png"/><Relationship Id="rId8" Type="http://schemas.openxmlformats.org/officeDocument/2006/relationships/image" Target="../media/image-9-6.png"/><Relationship Id="rId9" Type="http://schemas.openxmlformats.org/officeDocument/2006/relationships/image" Target="../media/image-9-6.png"/><Relationship Id="rId10" Type="http://schemas.openxmlformats.org/officeDocument/2006/relationships/image" Target="../media/image-9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4.png"/><Relationship Id="rId6" Type="http://schemas.openxmlformats.org/officeDocument/2006/relationships/image" Target="../media/image-10-4.png"/><Relationship Id="rId7" Type="http://schemas.openxmlformats.org/officeDocument/2006/relationships/image" Target="../media/image-10-4.png"/><Relationship Id="rId8" Type="http://schemas.openxmlformats.org/officeDocument/2006/relationships/image" Target="../media/image-10-4.png"/><Relationship Id="rId9" Type="http://schemas.openxmlformats.org/officeDocument/2006/relationships/image" Target="../media/image-10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home/claude/hush-deck/assets/shiel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7818120" y="141732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77240" y="896112"/>
            <a:ext cx="128016" cy="128016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5" name="Text 1"/>
          <p:cNvSpPr/>
          <p:nvPr/>
        </p:nvSpPr>
        <p:spPr>
          <a:xfrm>
            <a:off x="987552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ZERO-KNOWLEDGE PAYMENT RAIL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713232" y="15544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endParaRPr lang="en-US" sz="11800" dirty="0"/>
          </a:p>
        </p:txBody>
      </p:sp>
      <p:sp>
        <p:nvSpPr>
          <p:cNvPr id="7" name="Text 3"/>
          <p:cNvSpPr/>
          <p:nvPr/>
        </p:nvSpPr>
        <p:spPr>
          <a:xfrm>
            <a:off x="777240" y="334670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i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silently.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777240" y="4224528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USDC to a @handle or an email without leaving an on-chain link between the deposit and the withdraw. A shielded note pool, live on Arc Testnet.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77240" y="5623560"/>
            <a:ext cx="2331720" cy="402336"/>
          </a:xfrm>
          <a:prstGeom prst="roundRect">
            <a:avLst>
              <a:gd name="adj" fmla="val 5000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6235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Shielded note pool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246120" y="5623560"/>
            <a:ext cx="1874520" cy="402336"/>
          </a:xfrm>
          <a:prstGeom prst="roundRect">
            <a:avLst>
              <a:gd name="adj" fmla="val 5000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46120" y="56235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Groth16 zk-proofs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257800" y="562356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257800" y="56235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Unlinkable by design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12648"/>
            <a:ext cx="109728" cy="109728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4" name="Text 1"/>
          <p:cNvSpPr/>
          <p:nvPr/>
        </p:nvSpPr>
        <p:spPr>
          <a:xfrm>
            <a:off x="859536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transfer is public by default.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1847088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blockchains leave a visible trail. Every transfer creates a sender → recipient edge that anyone can follow — forever. When the relationship itself should stay private, that transparency becomes a liability.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053328" y="1810512"/>
            <a:ext cx="5449824" cy="2084832"/>
          </a:xfrm>
          <a:prstGeom prst="roundRect">
            <a:avLst>
              <a:gd name="adj" fmla="val 482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73368" y="2121408"/>
            <a:ext cx="603504" cy="603504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9" name="Image 1" descr="/home/claude/hush-deck/asset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279" y="2278319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50608" y="2139696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ANYONE CAN SEE ON-CHAIN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373368" y="283464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0x9a2f…c1</a:t>
            </a:r>
            <a:pPr algn="ctr" indent="0" marL="0">
              <a:buNone/>
            </a:pPr>
            <a:r>
              <a:rPr lang="en-US" sz="16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algn="ctr" indent="0" marL="0">
              <a:buNone/>
            </a:pPr>
            <a:r>
              <a:rPr lang="en-US" sz="1600" b="1" dirty="0">
                <a:solidFill>
                  <a:srgbClr val="2DE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 USDC</a:t>
            </a:r>
            <a:pPr algn="ctr" indent="0" marL="0">
              <a:buNone/>
            </a:pPr>
            <a:r>
              <a:rPr lang="en-US" sz="16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algn="ctr" indent="0" marL="0">
              <a:buNone/>
            </a:pPr>
            <a:r>
              <a:rPr lang="en-US" sz="1600" b="1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0x4c7b…8b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73368" y="3328416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amount, and recipient — permanently and publicly linked.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187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relationship itself should stay private: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58368" y="4590288"/>
            <a:ext cx="2505456" cy="1463040"/>
          </a:xfrm>
          <a:prstGeom prst="roundRect">
            <a:avLst>
              <a:gd name="adj" fmla="val 687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846320"/>
            <a:ext cx="512064" cy="512064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16" name="Image 2" descr="/home/claude/hush-deck/assets/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497945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27048" y="482803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4400" y="543153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amounts and cadence exposed to anyone.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438144" y="4590288"/>
            <a:ext cx="2505456" cy="1463040"/>
          </a:xfrm>
          <a:prstGeom prst="roundRect">
            <a:avLst>
              <a:gd name="adj" fmla="val 687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94176" y="4846320"/>
            <a:ext cx="512064" cy="512064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21" name="Image 3" descr="/home/claude/hush-deck/asset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313" y="4979457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06824" y="482803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Donations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3694176" y="543153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Supporter ↔ cause links revealed on-chain.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17920" y="4590288"/>
            <a:ext cx="2505456" cy="1463040"/>
          </a:xfrm>
          <a:prstGeom prst="roundRect">
            <a:avLst>
              <a:gd name="adj" fmla="val 687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73952" y="4846320"/>
            <a:ext cx="512064" cy="512064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26" name="Image 4" descr="/home/claude/hush-deck/assets/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089" y="4979457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86600" y="482803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Remittances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6473952" y="543153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transfers traceable across borders.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997696" y="4590288"/>
            <a:ext cx="2505456" cy="1463040"/>
          </a:xfrm>
          <a:prstGeom prst="roundRect">
            <a:avLst>
              <a:gd name="adj" fmla="val 687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253728" y="4846320"/>
            <a:ext cx="512064" cy="512064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31" name="Image 5" descr="/home/claude/hush-deck/assets/f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865" y="4979457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866376" y="482803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253728" y="5431536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relationships and rates made public.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pPr algn="l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send silently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12648"/>
            <a:ext cx="109728" cy="109728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4" name="Text 1"/>
          <p:cNvSpPr/>
          <p:nvPr/>
        </p:nvSpPr>
        <p:spPr>
          <a:xfrm>
            <a:off x="859536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shielded note pool.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58368" y="153619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USDC without leaving an on-chain link between deposit and withdraw.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58368" y="2395728"/>
            <a:ext cx="2491740" cy="3246120"/>
          </a:xfrm>
          <a:prstGeom prst="roundRect">
            <a:avLst>
              <a:gd name="adj" fmla="val 4037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50976" y="2761488"/>
            <a:ext cx="713232" cy="713232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9" name="Image 1" descr="/home/claude/hush-deck/assets/depos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16" y="2946928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003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950976" y="3694176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50976" y="4224528"/>
            <a:ext cx="19248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deposits a fixed-size note under a Poseidon commitment.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442716" y="2395728"/>
            <a:ext cx="2491740" cy="3246120"/>
          </a:xfrm>
          <a:prstGeom prst="roundRect">
            <a:avLst>
              <a:gd name="adj" fmla="val 4037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735324" y="2761488"/>
            <a:ext cx="713232" cy="713232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15" name="Image 2" descr="/home/claude/hush-deck/asset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764" y="2946928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4648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3735324" y="3694176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3735324" y="4224528"/>
            <a:ext cx="19248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off-chain indexer inserts the commitment into a Merkle tree and posts the root on-chain.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27064" y="2395728"/>
            <a:ext cx="2491740" cy="3246120"/>
          </a:xfrm>
          <a:prstGeom prst="roundRect">
            <a:avLst>
              <a:gd name="adj" fmla="val 4037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2761488"/>
            <a:ext cx="713232" cy="713232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21" name="Image 3" descr="/home/claude/hush-deck/asset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112" y="294692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68996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6519672" y="3694176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6519672" y="4224528"/>
            <a:ext cx="19248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withdraws with a Groth16 proof of membership. A nullifier prevents double-spend.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011412" y="2395728"/>
            <a:ext cx="2491740" cy="3246120"/>
          </a:xfrm>
          <a:prstGeom prst="roundRect">
            <a:avLst>
              <a:gd name="adj" fmla="val 4037"/>
            </a:avLst>
          </a:prstGeom>
          <a:solidFill>
            <a:srgbClr val="161C2B"/>
          </a:solidFill>
          <a:ln w="17780">
            <a:solidFill>
              <a:srgbClr val="7C9CF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304020" y="2761488"/>
            <a:ext cx="713232" cy="713232"/>
          </a:xfrm>
          <a:prstGeom prst="ellipse">
            <a:avLst/>
          </a:prstGeom>
          <a:solidFill>
            <a:srgbClr val="1E2740"/>
          </a:solidFill>
          <a:ln w="12700">
            <a:solidFill>
              <a:srgbClr val="7C9CF5"/>
            </a:solidFill>
            <a:prstDash val="solid"/>
          </a:ln>
        </p:spPr>
      </p:sp>
      <p:pic>
        <p:nvPicPr>
          <p:cNvPr id="27" name="Image 4" descr="/home/claude/hush-deck/assets/sl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9460" y="2946928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753344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7C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29" name="Text 22"/>
          <p:cNvSpPr/>
          <p:nvPr/>
        </p:nvSpPr>
        <p:spPr>
          <a:xfrm>
            <a:off x="9304020" y="3694176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Unlink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9304020" y="4224528"/>
            <a:ext cx="19248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on-chain connects the deposit transaction to the withdraw transaction.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168396" y="28529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5952744" y="28529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8737092" y="2852928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pPr algn="l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send silently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12648"/>
            <a:ext cx="109728" cy="109728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4" name="Text 1"/>
          <p:cNvSpPr/>
          <p:nvPr/>
        </p:nvSpPr>
        <p:spPr>
          <a:xfrm>
            <a:off x="859536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DELIVERY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to a @handle or an email — privately.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1572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wallet address needed. Address people the way you already do — the chain never sees who.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58368" y="2176272"/>
            <a:ext cx="3432048" cy="1481328"/>
          </a:xfrm>
          <a:prstGeom prst="roundRect">
            <a:avLst>
              <a:gd name="adj" fmla="val 679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432304"/>
            <a:ext cx="548640" cy="54864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9" name="Image 1" descr="/home/claude/hush-deck/assets/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2574950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3488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554480" y="2432304"/>
            <a:ext cx="206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by identity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14400" y="3035808"/>
            <a:ext cx="2919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@alice or alice@email.com. The backend resolves it to a wallet + Bullet public key.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64736" y="2176272"/>
            <a:ext cx="3432048" cy="1481328"/>
          </a:xfrm>
          <a:prstGeom prst="roundRect">
            <a:avLst>
              <a:gd name="adj" fmla="val 679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20768" y="2432304"/>
            <a:ext cx="548640" cy="54864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15" name="Image 2" descr="/home/claude/hush-deck/asset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414" y="2574950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9856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5260848" y="2432304"/>
            <a:ext cx="206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on send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620768" y="3035808"/>
            <a:ext cx="2919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On-chain: only a Poseidon commitment. Off-chain: the note, encrypted to the recipient's key.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071104" y="2176272"/>
            <a:ext cx="3432048" cy="1481328"/>
          </a:xfrm>
          <a:prstGeom prst="roundRect">
            <a:avLst>
              <a:gd name="adj" fmla="val 679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27136" y="2432304"/>
            <a:ext cx="548640" cy="54864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7C9CF5"/>
            </a:solidFill>
            <a:prstDash val="solid"/>
          </a:ln>
        </p:spPr>
      </p:sp>
      <p:pic>
        <p:nvPicPr>
          <p:cNvPr id="21" name="Image 3" descr="/home/claude/hush-deck/assets/gi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782" y="257495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36224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C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8967216" y="2432304"/>
            <a:ext cx="206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claim it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327136" y="3035808"/>
            <a:ext cx="2919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signs in, decrypts the note, proves membership, and withdraws — no link back to you.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58368" y="3913632"/>
            <a:ext cx="5285232" cy="1737360"/>
          </a:xfrm>
          <a:prstGeom prst="roundRect">
            <a:avLst>
              <a:gd name="adj" fmla="val 5789"/>
            </a:avLst>
          </a:prstGeom>
          <a:solidFill>
            <a:srgbClr val="161C2B"/>
          </a:solidFill>
          <a:ln w="16510">
            <a:solidFill>
              <a:srgbClr val="2DE1B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32688" y="4169664"/>
            <a:ext cx="493776" cy="493776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27" name="Image 4" descr="/home/claude/hush-deck/asset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70" y="4298046"/>
            <a:ext cx="237012" cy="2370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169664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spc="1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· ON-CHAIN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932688" y="477316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 w="12700">
            <a:solidFill>
              <a:srgbClr val="2DE1B8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932688" y="4773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E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commitment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2441448" y="477316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 w="12700">
            <a:solidFill>
              <a:srgbClr val="2DE1B8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441448" y="47731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E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nullifier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3767328" y="477316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 w="12700">
            <a:solidFill>
              <a:srgbClr val="2DE1B8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767328" y="47731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E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 amount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932688" y="5175504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opaque note in a pool — no recipient, no @handle, no deposit ↔ withdraw link.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217920" y="3913632"/>
            <a:ext cx="5285232" cy="1737360"/>
          </a:xfrm>
          <a:prstGeom prst="roundRect">
            <a:avLst>
              <a:gd name="adj" fmla="val 5789"/>
            </a:avLst>
          </a:prstGeom>
          <a:solidFill>
            <a:srgbClr val="161C2B"/>
          </a:solidFill>
          <a:ln w="16510">
            <a:solidFill>
              <a:srgbClr val="7C9CF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492240" y="4169664"/>
            <a:ext cx="493776" cy="493776"/>
          </a:xfrm>
          <a:prstGeom prst="ellipse">
            <a:avLst/>
          </a:prstGeom>
          <a:solidFill>
            <a:srgbClr val="1E2740"/>
          </a:solidFill>
          <a:ln w="12700">
            <a:solidFill>
              <a:srgbClr val="7C9CF5"/>
            </a:solidFill>
            <a:prstDash val="solid"/>
          </a:ln>
        </p:spPr>
      </p:sp>
      <p:pic>
        <p:nvPicPr>
          <p:cNvPr id="38" name="Image 5" descr="/home/claude/hush-deck/assets/lock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622" y="4298046"/>
            <a:ext cx="237012" cy="2370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114032" y="4169664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spc="100" kern="0" dirty="0">
                <a:solidFill>
                  <a:srgbClr val="7C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· OFF-CHAIN</a:t>
            </a:r>
            <a:endParaRPr lang="en-US" sz="1450" dirty="0"/>
          </a:p>
        </p:txBody>
      </p:sp>
      <p:sp>
        <p:nvSpPr>
          <p:cNvPr id="40" name="Shape 32"/>
          <p:cNvSpPr/>
          <p:nvPr/>
        </p:nvSpPr>
        <p:spPr>
          <a:xfrm>
            <a:off x="6492240" y="4773168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 w="12700">
            <a:solidFill>
              <a:srgbClr val="7C9CF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492240" y="477316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@handle / email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8183880" y="47731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 w="12700">
            <a:solidFill>
              <a:srgbClr val="7C9CF5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183880" y="47731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encrypted note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9829800" y="477316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0162A"/>
          </a:solidFill>
          <a:ln w="12700">
            <a:solidFill>
              <a:srgbClr val="7C9CF5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9829800" y="47731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 link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6492240" y="5175504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to the recipient's Bullet key — only they can open and withdraw it.</a:t>
            </a:r>
            <a:endParaRPr lang="en-US" sz="1200" dirty="0"/>
          </a:p>
        </p:txBody>
      </p:sp>
      <p:pic>
        <p:nvPicPr>
          <p:cNvPr id="47" name="Image 6" descr="/home/claude/hush-deck/assets/eyeo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870448"/>
            <a:ext cx="237744" cy="23774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005840" y="58338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delivery (a claim link or email) can leak metadata — but on-chain unlinkability always holds.</a:t>
            </a:r>
            <a:endParaRPr lang="en-US" sz="1250" dirty="0"/>
          </a:p>
        </p:txBody>
      </p:sp>
      <p:sp>
        <p:nvSpPr>
          <p:cNvPr id="49" name="Text 40"/>
          <p:cNvSpPr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pPr algn="l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send silently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12648"/>
            <a:ext cx="109728" cy="109728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4" name="Text 1"/>
          <p:cNvSpPr/>
          <p:nvPr/>
        </p:nvSpPr>
        <p:spPr>
          <a:xfrm>
            <a:off x="859536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FLOW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Deposit, then withdraw — with no thread between them.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965960"/>
            <a:ext cx="4892040" cy="4069080"/>
          </a:xfrm>
          <a:prstGeom prst="roundRect">
            <a:avLst>
              <a:gd name="adj" fmla="val 2472"/>
            </a:avLst>
          </a:prstGeom>
          <a:solidFill>
            <a:srgbClr val="161C2B"/>
          </a:solidFill>
          <a:ln w="16510">
            <a:solidFill>
              <a:srgbClr val="2DE1B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9264" y="2276856"/>
            <a:ext cx="566928" cy="566928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8" name="Image 1" descr="/home/claude/hush-deck/assets/depos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2424257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82496" y="229514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1042416" y="3182112"/>
            <a:ext cx="91440" cy="91440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11" name="Shape 7"/>
          <p:cNvSpPr/>
          <p:nvPr/>
        </p:nvSpPr>
        <p:spPr>
          <a:xfrm>
            <a:off x="1088136" y="3282696"/>
            <a:ext cx="0" cy="566928"/>
          </a:xfrm>
          <a:prstGeom prst="line">
            <a:avLst/>
          </a:prstGeom>
          <a:noFill/>
          <a:ln w="12700">
            <a:solidFill>
              <a:srgbClr val="2A334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261872" y="3054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261872" y="3319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→ commitment; encrypt note to recipient key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042416" y="3904488"/>
            <a:ext cx="91440" cy="91440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15" name="Shape 11"/>
          <p:cNvSpPr/>
          <p:nvPr/>
        </p:nvSpPr>
        <p:spPr>
          <a:xfrm>
            <a:off x="1088136" y="4005072"/>
            <a:ext cx="0" cy="566928"/>
          </a:xfrm>
          <a:prstGeom prst="line">
            <a:avLst/>
          </a:prstGeom>
          <a:noFill/>
          <a:ln w="12700">
            <a:solidFill>
              <a:srgbClr val="2A334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61872" y="3776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BulletPool.deposit()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261872" y="40416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amount, commitment on-chain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1042416" y="4626864"/>
            <a:ext cx="91440" cy="91440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19" name="Shape 15"/>
          <p:cNvSpPr/>
          <p:nvPr/>
        </p:nvSpPr>
        <p:spPr>
          <a:xfrm>
            <a:off x="1088136" y="4727448"/>
            <a:ext cx="0" cy="566928"/>
          </a:xfrm>
          <a:prstGeom prst="line">
            <a:avLst/>
          </a:prstGeom>
          <a:noFill/>
          <a:ln w="12700">
            <a:solidFill>
              <a:srgbClr val="2A334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61872" y="4498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1261872" y="47640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leaf into Merkle tree → postRoot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1042416" y="5349240"/>
            <a:ext cx="91440" cy="91440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23" name="Text 19"/>
          <p:cNvSpPr/>
          <p:nvPr/>
        </p:nvSpPr>
        <p:spPr>
          <a:xfrm>
            <a:off x="1261872" y="5221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261872" y="5486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encrypted note ciphertext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611112" y="1965960"/>
            <a:ext cx="4892040" cy="4069080"/>
          </a:xfrm>
          <a:prstGeom prst="roundRect">
            <a:avLst>
              <a:gd name="adj" fmla="val 2472"/>
            </a:avLst>
          </a:prstGeom>
          <a:solidFill>
            <a:srgbClr val="161C2B"/>
          </a:solidFill>
          <a:ln w="16510">
            <a:solidFill>
              <a:srgbClr val="7C9CF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922008" y="2276856"/>
            <a:ext cx="566928" cy="566928"/>
          </a:xfrm>
          <a:prstGeom prst="ellipse">
            <a:avLst/>
          </a:prstGeom>
          <a:solidFill>
            <a:srgbClr val="1E2740"/>
          </a:solidFill>
          <a:ln w="12700">
            <a:solidFill>
              <a:srgbClr val="7C9CF5"/>
            </a:solidFill>
            <a:prstDash val="solid"/>
          </a:ln>
        </p:spPr>
      </p:sp>
      <p:pic>
        <p:nvPicPr>
          <p:cNvPr id="27" name="Image 2" descr="/home/claude/hush-deck/assets/withdra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409" y="2424257"/>
            <a:ext cx="272125" cy="27212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635240" y="229514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6995160" y="3182112"/>
            <a:ext cx="91440" cy="91440"/>
          </a:xfrm>
          <a:prstGeom prst="ellipse">
            <a:avLst/>
          </a:prstGeom>
          <a:solidFill>
            <a:srgbClr val="7C9CF5"/>
          </a:solidFill>
          <a:ln/>
        </p:spPr>
      </p:sp>
      <p:sp>
        <p:nvSpPr>
          <p:cNvPr id="30" name="Shape 25"/>
          <p:cNvSpPr/>
          <p:nvPr/>
        </p:nvSpPr>
        <p:spPr>
          <a:xfrm>
            <a:off x="7040880" y="3282696"/>
            <a:ext cx="0" cy="566928"/>
          </a:xfrm>
          <a:prstGeom prst="line">
            <a:avLst/>
          </a:prstGeom>
          <a:noFill/>
          <a:ln w="12700">
            <a:solidFill>
              <a:srgbClr val="2A334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214616" y="3054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7214616" y="3319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notes → decrypt locally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995160" y="3904488"/>
            <a:ext cx="91440" cy="91440"/>
          </a:xfrm>
          <a:prstGeom prst="ellipse">
            <a:avLst/>
          </a:prstGeom>
          <a:solidFill>
            <a:srgbClr val="7C9CF5"/>
          </a:solidFill>
          <a:ln/>
        </p:spPr>
      </p:sp>
      <p:sp>
        <p:nvSpPr>
          <p:cNvPr id="34" name="Shape 29"/>
          <p:cNvSpPr/>
          <p:nvPr/>
        </p:nvSpPr>
        <p:spPr>
          <a:xfrm>
            <a:off x="7040880" y="4005072"/>
            <a:ext cx="0" cy="566928"/>
          </a:xfrm>
          <a:prstGeom prst="line">
            <a:avLst/>
          </a:prstGeom>
          <a:noFill/>
          <a:ln w="12700">
            <a:solidFill>
              <a:srgbClr val="2A334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214616" y="3776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7214616" y="40416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/witness/:commitment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6995160" y="4626864"/>
            <a:ext cx="91440" cy="91440"/>
          </a:xfrm>
          <a:prstGeom prst="ellipse">
            <a:avLst/>
          </a:prstGeom>
          <a:solidFill>
            <a:srgbClr val="7C9CF5"/>
          </a:solidFill>
          <a:ln/>
        </p:spPr>
      </p:sp>
      <p:sp>
        <p:nvSpPr>
          <p:cNvPr id="38" name="Shape 33"/>
          <p:cNvSpPr/>
          <p:nvPr/>
        </p:nvSpPr>
        <p:spPr>
          <a:xfrm>
            <a:off x="7040880" y="4727448"/>
            <a:ext cx="0" cy="566928"/>
          </a:xfrm>
          <a:prstGeom prst="line">
            <a:avLst/>
          </a:prstGeom>
          <a:noFill/>
          <a:ln w="12700">
            <a:solidFill>
              <a:srgbClr val="2A334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214616" y="4498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7214616" y="47640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generateProof(note, merklePath)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6995160" y="5349240"/>
            <a:ext cx="91440" cy="91440"/>
          </a:xfrm>
          <a:prstGeom prst="ellipse">
            <a:avLst/>
          </a:prstGeom>
          <a:solidFill>
            <a:srgbClr val="7C9CF5"/>
          </a:solidFill>
          <a:ln/>
        </p:spPr>
      </p:sp>
      <p:sp>
        <p:nvSpPr>
          <p:cNvPr id="42" name="Text 37"/>
          <p:cNvSpPr/>
          <p:nvPr/>
        </p:nvSpPr>
        <p:spPr>
          <a:xfrm>
            <a:off x="7214616" y="5221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BulletPool.withdraw()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7214616" y="5486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root, nullifier, recipient</a:t>
            </a:r>
            <a:endParaRPr lang="en-US" sz="1150" dirty="0"/>
          </a:p>
        </p:txBody>
      </p:sp>
      <p:sp>
        <p:nvSpPr>
          <p:cNvPr id="44" name="Shape 39"/>
          <p:cNvSpPr/>
          <p:nvPr/>
        </p:nvSpPr>
        <p:spPr>
          <a:xfrm>
            <a:off x="5715000" y="3634740"/>
            <a:ext cx="731520" cy="731520"/>
          </a:xfrm>
          <a:prstGeom prst="ellipse">
            <a:avLst/>
          </a:prstGeom>
          <a:solidFill>
            <a:srgbClr val="161C2B"/>
          </a:solidFill>
          <a:ln w="12700">
            <a:solidFill>
              <a:srgbClr val="606B82"/>
            </a:solidFill>
            <a:prstDash val="solid"/>
          </a:ln>
        </p:spPr>
      </p:sp>
      <p:pic>
        <p:nvPicPr>
          <p:cNvPr id="45" name="Image 3" descr="/home/claude/hush-deck/assets/sl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195" y="3824935"/>
            <a:ext cx="351130" cy="35113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550408" y="4384548"/>
            <a:ext cx="1060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on-chain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pPr algn="l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send silently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12648"/>
            <a:ext cx="109728" cy="109728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4" name="Text 1"/>
          <p:cNvSpPr/>
          <p:nvPr/>
        </p:nvSpPr>
        <p:spPr>
          <a:xfrm>
            <a:off x="859536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layers, one shielded rail.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58368" y="1920240"/>
            <a:ext cx="3432048" cy="1572768"/>
          </a:xfrm>
          <a:prstGeom prst="roundRect">
            <a:avLst>
              <a:gd name="adj" fmla="val 639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32688" y="2194560"/>
            <a:ext cx="566928" cy="566928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8" name="Image 1" descr="/home/claude/hush-deck/assets/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89" y="234196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27632" y="2194560"/>
            <a:ext cx="233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932688" y="2834640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funds, verify proofs, track nullifiers, accept roots.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64736" y="1920240"/>
            <a:ext cx="3432048" cy="1572768"/>
          </a:xfrm>
          <a:prstGeom prst="roundRect">
            <a:avLst>
              <a:gd name="adj" fmla="val 639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39056" y="2194560"/>
            <a:ext cx="566928" cy="566928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13" name="Image 2" descr="/home/claude/hush-deck/asset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457" y="234196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34000" y="2194560"/>
            <a:ext cx="233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circuit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639056" y="2834640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 / BN254 Groth16 — proves withdrawal membership.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71104" y="1920240"/>
            <a:ext cx="3432048" cy="1572768"/>
          </a:xfrm>
          <a:prstGeom prst="roundRect">
            <a:avLst>
              <a:gd name="adj" fmla="val 639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45424" y="2194560"/>
            <a:ext cx="566928" cy="566928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18" name="Image 3" descr="/home/claude/hush-deck/asset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825" y="2341961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40368" y="2194560"/>
            <a:ext cx="233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SDK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345424" y="2834640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commitments, nullifiers, Merkle proofs, proving.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58368" y="3749040"/>
            <a:ext cx="3432048" cy="1572768"/>
          </a:xfrm>
          <a:prstGeom prst="roundRect">
            <a:avLst>
              <a:gd name="adj" fmla="val 639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2688" y="4023360"/>
            <a:ext cx="566928" cy="566928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23" name="Image 4" descr="/home/claude/hush-deck/asset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089" y="4170761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27632" y="4023360"/>
            <a:ext cx="233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932688" y="4663440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deposits, build the tree, post roots, serve witnesses.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64736" y="3749040"/>
            <a:ext cx="3432048" cy="1572768"/>
          </a:xfrm>
          <a:prstGeom prst="roundRect">
            <a:avLst>
              <a:gd name="adj" fmla="val 639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39056" y="4023360"/>
            <a:ext cx="566928" cy="566928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28" name="Image 5" descr="/home/claude/hush-deck/assets/ser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457" y="4170761"/>
            <a:ext cx="272125" cy="27212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34000" y="4023360"/>
            <a:ext cx="233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50" dirty="0"/>
          </a:p>
        </p:txBody>
      </p:sp>
      <p:sp>
        <p:nvSpPr>
          <p:cNvPr id="30" name="Text 22"/>
          <p:cNvSpPr/>
          <p:nvPr/>
        </p:nvSpPr>
        <p:spPr>
          <a:xfrm>
            <a:off x="4639056" y="4663440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auth, @usernames, encrypted note inbox.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071104" y="3749040"/>
            <a:ext cx="3432048" cy="1572768"/>
          </a:xfrm>
          <a:prstGeom prst="roundRect">
            <a:avLst>
              <a:gd name="adj" fmla="val 6395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45424" y="4023360"/>
            <a:ext cx="566928" cy="566928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33" name="Image 6" descr="/home/claude/hush-deck/assets/lay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2825" y="4170761"/>
            <a:ext cx="272125" cy="2721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40368" y="4023360"/>
            <a:ext cx="2334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50" dirty="0"/>
          </a:p>
        </p:txBody>
      </p:sp>
      <p:sp>
        <p:nvSpPr>
          <p:cNvPr id="35" name="Text 26"/>
          <p:cNvSpPr/>
          <p:nvPr/>
        </p:nvSpPr>
        <p:spPr>
          <a:xfrm>
            <a:off x="8345424" y="4663440"/>
            <a:ext cx="288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/ withdraw UX calling SDK, backend &amp; contracts.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58368" y="54681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DE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  </a:t>
            </a:r>
            <a:pPr algn="l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BulletPool</a:t>
            </a:r>
            <a:pPr algn="l" indent="0" marL="0"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deposit/withdraw &amp; nullifiers     </a:t>
            </a:r>
            <a:pPr algn="l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MerkleRootManager</a:t>
            </a:r>
            <a:pPr algn="l" indent="0" marL="0"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rolling window of 64 roots     </a:t>
            </a:r>
            <a:pPr algn="l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WithdrawVerifier</a:t>
            </a:r>
            <a:pPr algn="l" indent="0" marL="0">
              <a:buNone/>
            </a:pPr>
            <a:r>
              <a:rPr lang="en-US" sz="11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Groth16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pPr algn="l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send silently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12648"/>
            <a:ext cx="109728" cy="109728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4" name="Text 1"/>
          <p:cNvSpPr/>
          <p:nvPr/>
        </p:nvSpPr>
        <p:spPr>
          <a:xfrm>
            <a:off x="859536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pieces talk.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955280" y="1115568"/>
            <a:ext cx="457200" cy="0"/>
          </a:xfrm>
          <a:prstGeom prst="line">
            <a:avLst/>
          </a:prstGeom>
          <a:noFill/>
          <a:ln w="30480">
            <a:solidFill>
              <a:srgbClr val="2DE1B8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850392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(wallet tx)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955280" y="1408176"/>
            <a:ext cx="457200" cy="0"/>
          </a:xfrm>
          <a:prstGeom prst="line">
            <a:avLst/>
          </a:prstGeom>
          <a:noFill/>
          <a:ln w="30480">
            <a:solidFill>
              <a:srgbClr val="7C9CF5"/>
            </a:solidFill>
            <a:prstDash val="dash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850392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(API call)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" y="1993392"/>
            <a:ext cx="3108960" cy="3310128"/>
          </a:xfrm>
          <a:prstGeom prst="roundRect">
            <a:avLst>
              <a:gd name="adj" fmla="val 2647"/>
            </a:avLst>
          </a:prstGeom>
          <a:solidFill>
            <a:srgbClr val="0E1424"/>
          </a:solidFill>
          <a:ln w="12700">
            <a:solidFill>
              <a:srgbClr val="2A3348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841248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· BROWSER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42816" y="1993392"/>
            <a:ext cx="3108960" cy="3310128"/>
          </a:xfrm>
          <a:prstGeom prst="roundRect">
            <a:avLst>
              <a:gd name="adj" fmla="val 2647"/>
            </a:avLst>
          </a:prstGeom>
          <a:solidFill>
            <a:srgbClr val="0E1424"/>
          </a:solidFill>
          <a:ln w="12700">
            <a:solidFill>
              <a:srgbClr val="2A3348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4425696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SERVICES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27264" y="1993392"/>
            <a:ext cx="3675888" cy="3310128"/>
          </a:xfrm>
          <a:prstGeom prst="roundRect">
            <a:avLst>
              <a:gd name="adj" fmla="val 2486"/>
            </a:avLst>
          </a:prstGeom>
          <a:solidFill>
            <a:srgbClr val="0E1424"/>
          </a:solidFill>
          <a:ln w="12700">
            <a:solidFill>
              <a:srgbClr val="2A334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8010144" y="212140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· ARC TESTNET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1248" y="2450592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161C2B"/>
          </a:solidFill>
          <a:ln w="15240">
            <a:solidFill>
              <a:srgbClr val="2DE1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4128" y="2633472"/>
            <a:ext cx="457200" cy="45720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18" name="Image 1" descr="/home/claude/hush-deck/assets/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52344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91056" y="2633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024128" y="31089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deposit / withdraw UX. Calls SDK, backend &amp; contracts.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41248" y="3776472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161C2B"/>
          </a:solidFill>
          <a:ln w="15240">
            <a:solidFill>
              <a:srgbClr val="2DE1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24128" y="3959352"/>
            <a:ext cx="457200" cy="45720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23" name="Image 2" descr="/home/claude/hush-deck/assets/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07822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91056" y="3959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SDK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024128" y="44348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Commitments, nullifiers, Merkle proofs, Groth16 proving.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41248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never leave the browser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425696" y="2450592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161C2B"/>
          </a:solidFill>
          <a:ln w="15240">
            <a:solidFill>
              <a:srgbClr val="7C9CF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608576" y="2633472"/>
            <a:ext cx="457200" cy="45720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7C9CF5"/>
            </a:solidFill>
            <a:prstDash val="solid"/>
          </a:ln>
        </p:spPr>
      </p:sp>
      <p:pic>
        <p:nvPicPr>
          <p:cNvPr id="29" name="Image 3" descr="/home/claude/hush-deck/asset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752344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175504" y="2633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4608576" y="31089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@username → wallet + key · encrypted note inbox.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425696" y="3776472"/>
            <a:ext cx="2743200" cy="1188720"/>
          </a:xfrm>
          <a:prstGeom prst="roundRect">
            <a:avLst>
              <a:gd name="adj" fmla="val 6923"/>
            </a:avLst>
          </a:prstGeom>
          <a:solidFill>
            <a:srgbClr val="161C2B"/>
          </a:solidFill>
          <a:ln w="15240">
            <a:solidFill>
              <a:srgbClr val="7C9CF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608576" y="3959352"/>
            <a:ext cx="457200" cy="45720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7C9CF5"/>
            </a:solidFill>
            <a:prstDash val="solid"/>
          </a:ln>
        </p:spPr>
      </p:sp>
      <p:pic>
        <p:nvPicPr>
          <p:cNvPr id="34" name="Image 4" descr="/home/claude/hush-deck/asset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078224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75504" y="39593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4608576" y="44348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deposits · Merkle tree · postRoot · witness API.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010144" y="2450592"/>
            <a:ext cx="3310128" cy="1051560"/>
          </a:xfrm>
          <a:prstGeom prst="roundRect">
            <a:avLst>
              <a:gd name="adj" fmla="val 7826"/>
            </a:avLst>
          </a:prstGeom>
          <a:solidFill>
            <a:srgbClr val="161C2B"/>
          </a:solidFill>
          <a:ln w="15240">
            <a:solidFill>
              <a:srgbClr val="2DE1B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193024" y="2633472"/>
            <a:ext cx="457200" cy="45720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39" name="Image 5" descr="/home/claude/hush-deck/assets/bo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2752344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759952" y="26334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BulletPool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193024" y="3108960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· withdraw · nullifier set.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8010144" y="3694176"/>
            <a:ext cx="3310128" cy="457200"/>
          </a:xfrm>
          <a:prstGeom prst="roundRect">
            <a:avLst>
              <a:gd name="adj" fmla="val 14000"/>
            </a:avLst>
          </a:prstGeom>
          <a:solidFill>
            <a:srgbClr val="10162A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174736" y="369417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MerkleRootManager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10177272" y="36941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E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roots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8010144" y="4224528"/>
            <a:ext cx="3310128" cy="457200"/>
          </a:xfrm>
          <a:prstGeom prst="roundRect">
            <a:avLst>
              <a:gd name="adj" fmla="val 14000"/>
            </a:avLst>
          </a:prstGeom>
          <a:solidFill>
            <a:srgbClr val="10162A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8174736" y="42245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WithdrawVerifier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10177272" y="4224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E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Groth16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8010144" y="4754880"/>
            <a:ext cx="3310128" cy="457200"/>
          </a:xfrm>
          <a:prstGeom prst="roundRect">
            <a:avLst>
              <a:gd name="adj" fmla="val 14000"/>
            </a:avLst>
          </a:prstGeom>
          <a:solidFill>
            <a:srgbClr val="10162A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8174736" y="475488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MockUSDC</a:t>
            </a:r>
            <a:endParaRPr lang="en-US" sz="1150" dirty="0"/>
          </a:p>
        </p:txBody>
      </p:sp>
      <p:sp>
        <p:nvSpPr>
          <p:cNvPr id="50" name="Text 42"/>
          <p:cNvSpPr/>
          <p:nvPr/>
        </p:nvSpPr>
        <p:spPr>
          <a:xfrm>
            <a:off x="10177272" y="4754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DE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ERC-20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8010144" y="499262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0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BulletPool calls Verifier (proof) · RootManager (root) · MockUSDC (transfer)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3584448" y="3044952"/>
            <a:ext cx="841248" cy="0"/>
          </a:xfrm>
          <a:prstGeom prst="line">
            <a:avLst/>
          </a:prstGeom>
          <a:noFill/>
          <a:ln w="22225">
            <a:solidFill>
              <a:srgbClr val="7C9CF5"/>
            </a:solidFill>
            <a:prstDash val="dash"/>
            <a:headEnd type="none"/>
            <a:tailEnd type="triangle"/>
          </a:ln>
        </p:spPr>
      </p:sp>
      <p:sp>
        <p:nvSpPr>
          <p:cNvPr id="53" name="Text 45"/>
          <p:cNvSpPr/>
          <p:nvPr/>
        </p:nvSpPr>
        <p:spPr>
          <a:xfrm>
            <a:off x="3767328" y="2734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· notes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3584448" y="4370832"/>
            <a:ext cx="841248" cy="0"/>
          </a:xfrm>
          <a:prstGeom prst="line">
            <a:avLst/>
          </a:prstGeom>
          <a:noFill/>
          <a:ln w="22225">
            <a:solidFill>
              <a:srgbClr val="7C9CF5"/>
            </a:solidFill>
            <a:prstDash val="dash"/>
            <a:headEnd type="none"/>
            <a:tailEnd type="triangle"/>
          </a:ln>
        </p:spPr>
      </p:sp>
      <p:sp>
        <p:nvSpPr>
          <p:cNvPr id="55" name="Text 47"/>
          <p:cNvSpPr/>
          <p:nvPr/>
        </p:nvSpPr>
        <p:spPr>
          <a:xfrm>
            <a:off x="3767328" y="44439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/witness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7168896" y="4187952"/>
            <a:ext cx="841248" cy="-1074420"/>
          </a:xfrm>
          <a:prstGeom prst="line">
            <a:avLst/>
          </a:prstGeom>
          <a:noFill/>
          <a:ln w="22225">
            <a:solidFill>
              <a:srgbClr val="7C9CF5"/>
            </a:solidFill>
            <a:prstDash val="dash"/>
            <a:headEnd type="none"/>
            <a:tailEnd type="triangle"/>
          </a:ln>
        </p:spPr>
      </p:sp>
      <p:sp>
        <p:nvSpPr>
          <p:cNvPr id="57" name="Text 49"/>
          <p:cNvSpPr/>
          <p:nvPr/>
        </p:nvSpPr>
        <p:spPr>
          <a:xfrm>
            <a:off x="7306056" y="3216402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postRoot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749808" y="3044952"/>
            <a:ext cx="91440" cy="0"/>
          </a:xfrm>
          <a:prstGeom prst="line">
            <a:avLst/>
          </a:prstGeom>
          <a:noFill/>
          <a:ln w="27940">
            <a:solidFill>
              <a:srgbClr val="2DE1B8"/>
            </a:solidFill>
            <a:prstDash val="solid"/>
            <a:headEnd type="none"/>
            <a:tailEnd type="triangle"/>
          </a:ln>
        </p:spPr>
      </p:sp>
      <p:sp>
        <p:nvSpPr>
          <p:cNvPr id="59" name="Shape 51"/>
          <p:cNvSpPr/>
          <p:nvPr/>
        </p:nvSpPr>
        <p:spPr>
          <a:xfrm>
            <a:off x="749808" y="3044952"/>
            <a:ext cx="0" cy="2715768"/>
          </a:xfrm>
          <a:prstGeom prst="line">
            <a:avLst/>
          </a:prstGeom>
          <a:noFill/>
          <a:ln w="27940">
            <a:solidFill>
              <a:srgbClr val="2DE1B8"/>
            </a:solidFill>
            <a:prstDash val="solid"/>
            <a:headEnd type="none"/>
            <a:tailEnd type="none"/>
          </a:ln>
        </p:spPr>
      </p:sp>
      <p:sp>
        <p:nvSpPr>
          <p:cNvPr id="60" name="Shape 52"/>
          <p:cNvSpPr/>
          <p:nvPr/>
        </p:nvSpPr>
        <p:spPr>
          <a:xfrm>
            <a:off x="749808" y="5760720"/>
            <a:ext cx="5056632" cy="0"/>
          </a:xfrm>
          <a:prstGeom prst="line">
            <a:avLst/>
          </a:prstGeom>
          <a:noFill/>
          <a:ln w="27940">
            <a:solidFill>
              <a:srgbClr val="2DE1B8"/>
            </a:solidFill>
            <a:prstDash val="solid"/>
            <a:headEnd type="none"/>
            <a:tailEnd type="none"/>
          </a:ln>
        </p:spPr>
      </p:sp>
      <p:sp>
        <p:nvSpPr>
          <p:cNvPr id="61" name="Shape 53"/>
          <p:cNvSpPr/>
          <p:nvPr/>
        </p:nvSpPr>
        <p:spPr>
          <a:xfrm>
            <a:off x="7360920" y="5760720"/>
            <a:ext cx="4050792" cy="0"/>
          </a:xfrm>
          <a:prstGeom prst="line">
            <a:avLst/>
          </a:prstGeom>
          <a:noFill/>
          <a:ln w="27940">
            <a:solidFill>
              <a:srgbClr val="2DE1B8"/>
            </a:solidFill>
            <a:prstDash val="solid"/>
            <a:headEnd type="none"/>
            <a:tailEnd type="none"/>
          </a:ln>
        </p:spPr>
      </p:sp>
      <p:sp>
        <p:nvSpPr>
          <p:cNvPr id="62" name="Shape 54"/>
          <p:cNvSpPr/>
          <p:nvPr/>
        </p:nvSpPr>
        <p:spPr>
          <a:xfrm>
            <a:off x="11411712" y="5760720"/>
            <a:ext cx="0" cy="-2784348"/>
          </a:xfrm>
          <a:prstGeom prst="line">
            <a:avLst/>
          </a:prstGeom>
          <a:noFill/>
          <a:ln w="27940">
            <a:solidFill>
              <a:srgbClr val="2DE1B8"/>
            </a:solidFill>
            <a:prstDash val="solid"/>
            <a:headEnd type="none"/>
            <a:tailEnd type="none"/>
          </a:ln>
        </p:spPr>
      </p:sp>
      <p:sp>
        <p:nvSpPr>
          <p:cNvPr id="63" name="Shape 55"/>
          <p:cNvSpPr/>
          <p:nvPr/>
        </p:nvSpPr>
        <p:spPr>
          <a:xfrm>
            <a:off x="11411712" y="2976372"/>
            <a:ext cx="-91440" cy="0"/>
          </a:xfrm>
          <a:prstGeom prst="line">
            <a:avLst/>
          </a:prstGeom>
          <a:noFill/>
          <a:ln w="27940">
            <a:solidFill>
              <a:srgbClr val="2DE1B8"/>
            </a:solidFill>
            <a:prstDash val="solid"/>
            <a:headEnd type="none"/>
            <a:tailEnd type="triangle"/>
          </a:ln>
        </p:spPr>
      </p:sp>
      <p:sp>
        <p:nvSpPr>
          <p:cNvPr id="64" name="Shape 56"/>
          <p:cNvSpPr/>
          <p:nvPr/>
        </p:nvSpPr>
        <p:spPr>
          <a:xfrm>
            <a:off x="5806440" y="5532120"/>
            <a:ext cx="1554480" cy="457200"/>
          </a:xfrm>
          <a:prstGeom prst="roundRect">
            <a:avLst>
              <a:gd name="adj" fmla="val 24000"/>
            </a:avLst>
          </a:prstGeom>
          <a:solidFill>
            <a:srgbClr val="1E2740"/>
          </a:solidFill>
          <a:ln w="16510">
            <a:solidFill>
              <a:srgbClr val="2DE1B8"/>
            </a:solidFill>
            <a:prstDash val="solid"/>
          </a:ln>
        </p:spPr>
      </p:sp>
      <p:pic>
        <p:nvPicPr>
          <p:cNvPr id="65" name="Image 6" descr="/home/claude/hush-deck/assets/k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2744" y="5650992"/>
            <a:ext cx="219456" cy="219456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6208776" y="5532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wallet</a:t>
            </a:r>
            <a:endParaRPr lang="en-US" sz="1100" dirty="0"/>
          </a:p>
        </p:txBody>
      </p:sp>
      <p:sp>
        <p:nvSpPr>
          <p:cNvPr id="67" name="Text 58"/>
          <p:cNvSpPr/>
          <p:nvPr/>
        </p:nvSpPr>
        <p:spPr>
          <a:xfrm>
            <a:off x="4983480" y="6053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submits deposit / withdraw</a:t>
            </a:r>
            <a:endParaRPr lang="en-US" sz="950" dirty="0"/>
          </a:p>
        </p:txBody>
      </p:sp>
      <p:sp>
        <p:nvSpPr>
          <p:cNvPr id="68" name="Text 59"/>
          <p:cNvSpPr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pPr algn="l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send silently</a:t>
            </a:r>
            <a:endParaRPr lang="en-US" sz="900" dirty="0"/>
          </a:p>
        </p:txBody>
      </p:sp>
      <p:sp>
        <p:nvSpPr>
          <p:cNvPr id="69" name="Text 60"/>
          <p:cNvSpPr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12648"/>
            <a:ext cx="109728" cy="109728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4" name="Text 1"/>
          <p:cNvSpPr/>
          <p:nvPr/>
        </p:nvSpPr>
        <p:spPr>
          <a:xfrm>
            <a:off x="859536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ZERO-KNOWLEDGE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withdrawal needs a proof.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58368" y="1901952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deposit is just a commitment, an ERC-20 transfer, and an event — no circuit required. The heavy lifting is at withdrawal: a Groth16 proof shows the note belongs to the tree without revealing which one, while the nullifier makes it unspendable again.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58368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inputs are locked to: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44805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root, nullifier, recipientDigest,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amount, tokenHash ]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40680" y="1901952"/>
            <a:ext cx="6062472" cy="1371600"/>
          </a:xfrm>
          <a:prstGeom prst="roundRect">
            <a:avLst>
              <a:gd name="adj" fmla="val 7333"/>
            </a:avLst>
          </a:prstGeom>
          <a:solidFill>
            <a:srgbClr val="10162A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2139696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NULLIFIER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06440" y="2505456"/>
            <a:ext cx="5330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nullifier = </a:t>
            </a:r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DE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Poseidon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([secret])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40680" y="3419856"/>
            <a:ext cx="6062472" cy="1874520"/>
          </a:xfrm>
          <a:prstGeom prst="roundRect">
            <a:avLst>
              <a:gd name="adj" fmla="val 5366"/>
            </a:avLst>
          </a:prstGeom>
          <a:solidFill>
            <a:srgbClr val="10162A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06440" y="3657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06440" y="4023360"/>
            <a:ext cx="5330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commitment =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A9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DE1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Poseidon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([secret,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recipientDigest,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amount, tokenHash])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40680" y="5504688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5504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Poseidon hash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52360" y="5504688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550468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Groth16 proofs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418320" y="5504688"/>
            <a:ext cx="2084832" cy="402336"/>
          </a:xfrm>
          <a:prstGeom prst="roundRect">
            <a:avLst>
              <a:gd name="adj" fmla="val 5000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0" y="5504688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BN254 curve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pPr algn="l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send silently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12648"/>
            <a:ext cx="109728" cy="109728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4" name="Text 1"/>
          <p:cNvSpPr/>
          <p:nvPr/>
        </p:nvSpPr>
        <p:spPr>
          <a:xfrm>
            <a:off x="859536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PRIVACY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Hush protects — and what it doesn't yet.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58368" y="1938528"/>
            <a:ext cx="5422392" cy="4023360"/>
          </a:xfrm>
          <a:prstGeom prst="roundRect">
            <a:avLst>
              <a:gd name="adj" fmla="val 2500"/>
            </a:avLst>
          </a:prstGeom>
          <a:solidFill>
            <a:srgbClr val="161C2B"/>
          </a:solidFill>
          <a:ln w="16510">
            <a:solidFill>
              <a:srgbClr val="2DE1B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87552" y="2249424"/>
            <a:ext cx="548640" cy="54864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8" name="Image 1" descr="/home/claude/hush-deck/asset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" y="2392070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64208" y="2267712"/>
            <a:ext cx="4233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</a:t>
            </a:r>
            <a:endParaRPr lang="en-US" sz="1800" dirty="0"/>
          </a:p>
        </p:txBody>
      </p:sp>
      <p:pic>
        <p:nvPicPr>
          <p:cNvPr id="10" name="Image 2" descr="/home/claude/hush-deck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12724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08176" y="3054096"/>
            <a:ext cx="4325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Unlinkability of deposit ↔ withdraw, via Merkle membership + a spent-nullifier set.</a:t>
            </a:r>
            <a:endParaRPr lang="en-US" sz="1350" dirty="0"/>
          </a:p>
        </p:txBody>
      </p:sp>
      <p:pic>
        <p:nvPicPr>
          <p:cNvPr id="12" name="Image 3" descr="/home/claude/hush-deck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04164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08176" y="3968496"/>
            <a:ext cx="4325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denominations resist amount-matching — transfers look identical on-chain.</a:t>
            </a:r>
            <a:endParaRPr lang="en-US" sz="1350" dirty="0"/>
          </a:p>
        </p:txBody>
      </p:sp>
      <p:pic>
        <p:nvPicPr>
          <p:cNvPr id="14" name="Image 4" descr="/home/claude/hush-deck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95604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08176" y="4882896"/>
            <a:ext cx="4325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unlinkability holds even if off-chain delivery (a claim link, an email) leaks.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6080760" y="1938528"/>
            <a:ext cx="5422392" cy="4023360"/>
          </a:xfrm>
          <a:prstGeom prst="roundRect">
            <a:avLst>
              <a:gd name="adj" fmla="val 250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6409944" y="2249424"/>
            <a:ext cx="548640" cy="54864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606B82"/>
            </a:solidFill>
            <a:prstDash val="solid"/>
          </a:ln>
        </p:spPr>
      </p:sp>
      <p:pic>
        <p:nvPicPr>
          <p:cNvPr id="18" name="Image 5" descr="/home/claude/hush-deck/assets/minu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2590" y="2392070"/>
            <a:ext cx="263347" cy="26334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086600" y="2267712"/>
            <a:ext cx="4233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0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 (v1)</a:t>
            </a:r>
            <a:endParaRPr lang="en-US" sz="1800" dirty="0"/>
          </a:p>
        </p:txBody>
      </p:sp>
      <p:pic>
        <p:nvPicPr>
          <p:cNvPr id="20" name="Image 6" descr="/home/claude/hush-deck/assets/minu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127248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30568" y="3054096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are standardized, not encrypted — no hidden balances yet.</a:t>
            </a:r>
            <a:endParaRPr lang="en-US" sz="1350" dirty="0"/>
          </a:p>
        </p:txBody>
      </p:sp>
      <p:pic>
        <p:nvPicPr>
          <p:cNvPr id="22" name="Image 7" descr="/home/claude/hush-deck/assets/minu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840480"/>
            <a:ext cx="237744" cy="2377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30568" y="3767328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scales with pool size; demo volume is still thin.</a:t>
            </a:r>
            <a:endParaRPr lang="en-US" sz="1350" dirty="0"/>
          </a:p>
        </p:txBody>
      </p:sp>
      <p:pic>
        <p:nvPicPr>
          <p:cNvPr id="24" name="Image 8" descr="/home/claude/hush-deck/assets/minu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553712"/>
            <a:ext cx="237744" cy="23774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830568" y="4480560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posting is permissioned (indexer / relayer, Option B).</a:t>
            </a:r>
            <a:endParaRPr lang="en-US" sz="1350" dirty="0"/>
          </a:p>
        </p:txBody>
      </p:sp>
      <p:pic>
        <p:nvPicPr>
          <p:cNvPr id="26" name="Image 9" descr="/home/claude/hush-deck/assets/minu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5266944"/>
            <a:ext cx="237744" cy="237744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830568" y="5193792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setup is single-contributor until an MPC ceremony.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pPr algn="l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send silently</a:t>
            </a:r>
            <a:endParaRPr lang="en-US" sz="900" dirty="0"/>
          </a:p>
        </p:txBody>
      </p:sp>
      <p:sp>
        <p:nvSpPr>
          <p:cNvPr id="29" name="Text 17"/>
          <p:cNvSpPr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12648"/>
            <a:ext cx="109728" cy="109728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4" name="Text 1"/>
          <p:cNvSpPr/>
          <p:nvPr/>
        </p:nvSpPr>
        <p:spPr>
          <a:xfrm>
            <a:off x="859536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and running on Arc Testnet.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58368" y="1938528"/>
            <a:ext cx="4297680" cy="2788920"/>
          </a:xfrm>
          <a:prstGeom prst="roundRect">
            <a:avLst>
              <a:gd name="adj" fmla="val 3607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9264" y="2231136"/>
            <a:ext cx="548640" cy="54864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8" name="Image 1" descr="/home/claude/hush-deck/asset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2373782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2494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87552" y="3017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12848" y="30175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 Testnet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87552" y="34198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12848" y="3419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5042002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87552" y="38221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12848" y="38221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USDC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87552" y="42245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12848" y="42245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testnet.arcscan.app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230368" y="1938528"/>
            <a:ext cx="6272784" cy="2788920"/>
          </a:xfrm>
          <a:prstGeom prst="roundRect">
            <a:avLst>
              <a:gd name="adj" fmla="val 3607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41264" y="2231136"/>
            <a:ext cx="548640" cy="548640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20" name="Image 2" descr="/home/claude/hush-deck/asset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910" y="2373782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249424"/>
            <a:ext cx="5175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CONTRACTS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559552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BulletPool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7424928" y="301752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0x9E65584C6ACE76cEFde4FD5f50E6bB9763999dCe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559552" y="34198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MerkleRootManager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424928" y="3419856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0x6D6530A1fC908792DA2aa533a5F299283E6F062a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559552" y="3822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BulletVerifier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7424928" y="3822192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0x0A95c430Bf6AA3140A4Bf04C8D5982472331008d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559552" y="4224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MockUSDC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7424928" y="4224528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9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0x7d7aF5715e5671e0E3126b2428Dc2629bD9061e3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58368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58368" y="5358384"/>
            <a:ext cx="1624584" cy="548640"/>
          </a:xfrm>
          <a:prstGeom prst="roundRect">
            <a:avLst>
              <a:gd name="adj" fmla="val 18333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pic>
        <p:nvPicPr>
          <p:cNvPr id="32" name="Image 3" descr="/home/claude/hush-deck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513832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15568" y="5358384"/>
            <a:ext cx="1075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2502408" y="5358384"/>
            <a:ext cx="1624584" cy="548640"/>
          </a:xfrm>
          <a:prstGeom prst="roundRect">
            <a:avLst>
              <a:gd name="adj" fmla="val 18333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pic>
        <p:nvPicPr>
          <p:cNvPr id="35" name="Image 4" descr="/home/claude/hush-deck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5288" y="5513832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959608" y="5358384"/>
            <a:ext cx="1075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circuit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4346448" y="5358384"/>
            <a:ext cx="1624584" cy="548640"/>
          </a:xfrm>
          <a:prstGeom prst="roundRect">
            <a:avLst>
              <a:gd name="adj" fmla="val 18333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pic>
        <p:nvPicPr>
          <p:cNvPr id="38" name="Image 5" descr="/home/claude/hush-deck/asset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328" y="5513832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803648" y="5358384"/>
            <a:ext cx="1075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SDK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190488" y="5358384"/>
            <a:ext cx="1624584" cy="548640"/>
          </a:xfrm>
          <a:prstGeom prst="roundRect">
            <a:avLst>
              <a:gd name="adj" fmla="val 18333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pic>
        <p:nvPicPr>
          <p:cNvPr id="41" name="Image 6" descr="/home/claude/hush-deck/asset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5513832"/>
            <a:ext cx="237744" cy="23774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647688" y="5358384"/>
            <a:ext cx="1075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8034528" y="5358384"/>
            <a:ext cx="1624584" cy="548640"/>
          </a:xfrm>
          <a:prstGeom prst="roundRect">
            <a:avLst>
              <a:gd name="adj" fmla="val 18333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pic>
        <p:nvPicPr>
          <p:cNvPr id="44" name="Image 7" descr="/home/claude/hush-deck/asset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7408" y="5513832"/>
            <a:ext cx="237744" cy="23774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8491728" y="5358384"/>
            <a:ext cx="1075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9878568" y="5358384"/>
            <a:ext cx="1624584" cy="548640"/>
          </a:xfrm>
          <a:prstGeom prst="roundRect">
            <a:avLst>
              <a:gd name="adj" fmla="val 18333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pic>
        <p:nvPicPr>
          <p:cNvPr id="47" name="Image 8" descr="/home/claude/hush-deck/asset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1448" y="5513832"/>
            <a:ext cx="237744" cy="23774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335768" y="5358384"/>
            <a:ext cx="1075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49" name="Text 38"/>
          <p:cNvSpPr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pPr algn="l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send silently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612648"/>
            <a:ext cx="109728" cy="109728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4" name="Text 1"/>
          <p:cNvSpPr/>
          <p:nvPr/>
        </p:nvSpPr>
        <p:spPr>
          <a:xfrm>
            <a:off x="859536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961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unlinkable to fully shielded.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024128" y="1993392"/>
            <a:ext cx="10113264" cy="0"/>
          </a:xfrm>
          <a:prstGeom prst="line">
            <a:avLst/>
          </a:prstGeom>
          <a:noFill/>
          <a:ln w="19050">
            <a:solidFill>
              <a:srgbClr val="2A3348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821942" y="1911096"/>
            <a:ext cx="164592" cy="164592"/>
          </a:xfrm>
          <a:prstGeom prst="ellipse">
            <a:avLst/>
          </a:prstGeom>
          <a:solidFill>
            <a:srgbClr val="2DE1B8"/>
          </a:solidFill>
          <a:ln w="25400">
            <a:solidFill>
              <a:srgbClr val="0B0E1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" y="2286000"/>
            <a:ext cx="2491740" cy="3017520"/>
          </a:xfrm>
          <a:prstGeom prst="roundRect">
            <a:avLst>
              <a:gd name="adj" fmla="val 4037"/>
            </a:avLst>
          </a:prstGeom>
          <a:solidFill>
            <a:srgbClr val="161C2B"/>
          </a:solidFill>
          <a:ln w="15240">
            <a:solidFill>
              <a:srgbClr val="2DE1B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32688" y="2578608"/>
            <a:ext cx="603504" cy="603504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10" name="Image 1" descr="/home/claude/hush-deck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599" y="2735519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7632" y="2596896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32688" y="338328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testnet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932688" y="4160520"/>
            <a:ext cx="19431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Unlinkable note pool with fixed denominations, deployed on Arc Testnet.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606290" y="1911096"/>
            <a:ext cx="164592" cy="164592"/>
          </a:xfrm>
          <a:prstGeom prst="ellipse">
            <a:avLst/>
          </a:prstGeom>
          <a:solidFill>
            <a:srgbClr val="2DE1B8"/>
          </a:solidFill>
          <a:ln w="25400">
            <a:solidFill>
              <a:srgbClr val="0B0E1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442716" y="2286000"/>
            <a:ext cx="2491740" cy="3017520"/>
          </a:xfrm>
          <a:prstGeom prst="roundRect">
            <a:avLst>
              <a:gd name="adj" fmla="val 4037"/>
            </a:avLst>
          </a:prstGeom>
          <a:solidFill>
            <a:srgbClr val="161C2B"/>
          </a:solidFill>
          <a:ln w="15240">
            <a:solidFill>
              <a:srgbClr val="2DE1B8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717036" y="2578608"/>
            <a:ext cx="603504" cy="603504"/>
          </a:xfrm>
          <a:prstGeom prst="ellipse">
            <a:avLst/>
          </a:prstGeom>
          <a:solidFill>
            <a:srgbClr val="1E2740"/>
          </a:solidFill>
          <a:ln w="12700">
            <a:solidFill>
              <a:srgbClr val="2DE1B8"/>
            </a:solidFill>
            <a:prstDash val="solid"/>
          </a:ln>
        </p:spPr>
      </p:sp>
      <p:pic>
        <p:nvPicPr>
          <p:cNvPr id="17" name="Image 2" descr="/home/claude/hush-deck/asset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947" y="2735519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11980" y="2596896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717036" y="338328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3717036" y="4160520"/>
            <a:ext cx="19431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permissioned relayer — open up indexing and root posting.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390638" y="1911096"/>
            <a:ext cx="164592" cy="164592"/>
          </a:xfrm>
          <a:prstGeom prst="ellipse">
            <a:avLst/>
          </a:prstGeom>
          <a:solidFill>
            <a:srgbClr val="7C9CF5"/>
          </a:solidFill>
          <a:ln w="25400">
            <a:solidFill>
              <a:srgbClr val="0B0E1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27064" y="2286000"/>
            <a:ext cx="2491740" cy="3017520"/>
          </a:xfrm>
          <a:prstGeom prst="roundRect">
            <a:avLst>
              <a:gd name="adj" fmla="val 4037"/>
            </a:avLst>
          </a:prstGeom>
          <a:solidFill>
            <a:srgbClr val="161C2B"/>
          </a:solidFill>
          <a:ln w="15240">
            <a:solidFill>
              <a:srgbClr val="7C9CF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01384" y="2578608"/>
            <a:ext cx="603504" cy="603504"/>
          </a:xfrm>
          <a:prstGeom prst="ellipse">
            <a:avLst/>
          </a:prstGeom>
          <a:solidFill>
            <a:srgbClr val="1E2740"/>
          </a:solidFill>
          <a:ln w="12700">
            <a:solidFill>
              <a:srgbClr val="7C9CF5"/>
            </a:solidFill>
            <a:prstDash val="solid"/>
          </a:ln>
        </p:spPr>
      </p:sp>
      <p:pic>
        <p:nvPicPr>
          <p:cNvPr id="24" name="Image 3" descr="/home/claude/hush-deck/asset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95" y="2735519"/>
            <a:ext cx="289682" cy="28968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96328" y="2596896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501384" y="338328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balances</a:t>
            </a:r>
            <a:endParaRPr lang="en-US" sz="1750" dirty="0"/>
          </a:p>
        </p:txBody>
      </p:sp>
      <p:sp>
        <p:nvSpPr>
          <p:cNvPr id="27" name="Text 21"/>
          <p:cNvSpPr/>
          <p:nvPr/>
        </p:nvSpPr>
        <p:spPr>
          <a:xfrm>
            <a:off x="6501384" y="4160520"/>
            <a:ext cx="19431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shielded pool with encrypted amounts, not just standardized notes.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10174986" y="1911096"/>
            <a:ext cx="164592" cy="164592"/>
          </a:xfrm>
          <a:prstGeom prst="ellipse">
            <a:avLst/>
          </a:prstGeom>
          <a:solidFill>
            <a:srgbClr val="7C9CF5"/>
          </a:solidFill>
          <a:ln w="25400">
            <a:solidFill>
              <a:srgbClr val="0B0E1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011412" y="2286000"/>
            <a:ext cx="2491740" cy="3017520"/>
          </a:xfrm>
          <a:prstGeom prst="roundRect">
            <a:avLst>
              <a:gd name="adj" fmla="val 4037"/>
            </a:avLst>
          </a:prstGeom>
          <a:solidFill>
            <a:srgbClr val="161C2B"/>
          </a:solidFill>
          <a:ln w="15240">
            <a:solidFill>
              <a:srgbClr val="7C9CF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285732" y="2578608"/>
            <a:ext cx="603504" cy="603504"/>
          </a:xfrm>
          <a:prstGeom prst="ellipse">
            <a:avLst/>
          </a:prstGeom>
          <a:solidFill>
            <a:srgbClr val="1E2740"/>
          </a:solidFill>
          <a:ln w="12700">
            <a:solidFill>
              <a:srgbClr val="7C9CF5"/>
            </a:solidFill>
            <a:prstDash val="solid"/>
          </a:ln>
        </p:spPr>
      </p:sp>
      <p:pic>
        <p:nvPicPr>
          <p:cNvPr id="31" name="Image 4" descr="/home/claude/hush-deck/asset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2643" y="2735519"/>
            <a:ext cx="289682" cy="28968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980676" y="2596896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C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285732" y="3383280"/>
            <a:ext cx="1943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set</a:t>
            </a:r>
            <a:endParaRPr lang="en-US" sz="1750" dirty="0"/>
          </a:p>
        </p:txBody>
      </p:sp>
      <p:sp>
        <p:nvSpPr>
          <p:cNvPr id="34" name="Text 27"/>
          <p:cNvSpPr/>
          <p:nvPr/>
        </p:nvSpPr>
        <p:spPr>
          <a:xfrm>
            <a:off x="9285732" y="4160520"/>
            <a:ext cx="19431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MPC trusted-setup ceremony and a deeper, stronger anonymity set.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658368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</a:t>
            </a:r>
            <a:pPr algn="l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send silently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332720" y="6437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hush-deck/assets/bg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/home/claude/hush-deck/assets/sen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8229600" y="1371600"/>
            <a:ext cx="3108960" cy="3108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77240" y="1572768"/>
            <a:ext cx="128016" cy="128016"/>
          </a:xfrm>
          <a:prstGeom prst="ellipse">
            <a:avLst/>
          </a:prstGeom>
          <a:solidFill>
            <a:srgbClr val="2DE1B8"/>
          </a:solidFill>
          <a:ln/>
        </p:spPr>
      </p:sp>
      <p:sp>
        <p:nvSpPr>
          <p:cNvPr id="5" name="Text 1"/>
          <p:cNvSpPr/>
          <p:nvPr/>
        </p:nvSpPr>
        <p:spPr>
          <a:xfrm>
            <a:off x="987552" y="14996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HUSH — ZK-PRIVATE PAYMENTS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713232" y="21488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0" b="1" i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silently.</a:t>
            </a:r>
            <a:endParaRPr lang="en-US" sz="8200" dirty="0"/>
          </a:p>
        </p:txBody>
      </p:sp>
      <p:sp>
        <p:nvSpPr>
          <p:cNvPr id="7" name="Text 3"/>
          <p:cNvSpPr/>
          <p:nvPr/>
        </p:nvSpPr>
        <p:spPr>
          <a:xfrm>
            <a:off x="77724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USDC to a @handle or an email — unlinkable by design, live on Arc Testnet.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77240" y="50292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50292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Arc Testnet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291840" y="5029200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91840" y="5029200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E1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Groth16 · Poseidon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394960" y="5029200"/>
            <a:ext cx="2423160" cy="402336"/>
          </a:xfrm>
          <a:prstGeom prst="roundRect">
            <a:avLst>
              <a:gd name="adj" fmla="val 50000"/>
            </a:avLst>
          </a:prstGeom>
          <a:solidFill>
            <a:srgbClr val="161C2B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94960" y="502920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9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testnet.arcscan.app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2026-07-22T13:50:51Z</dcterms:created>
  <dcterms:modified xsi:type="dcterms:W3CDTF">2026-07-22T13:50:51Z</dcterms:modified>
</cp:coreProperties>
</file>